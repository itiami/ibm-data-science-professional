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76" r:id="rId14"/>
    <p:sldId id="277" r:id="rId15"/>
    <p:sldId id="278" r:id="rId16"/>
    <p:sldId id="279" r:id="rId17"/>
    <p:sldId id="266" r:id="rId18"/>
    <p:sldId id="268" r:id="rId19"/>
    <p:sldId id="269" r:id="rId20"/>
    <p:sldId id="272" r:id="rId21"/>
    <p:sldId id="273" r:id="rId22"/>
    <p:sldId id="274" r:id="rId23"/>
  </p:sldIdLst>
  <p:sldSz cx="12192000" cy="6858000"/>
  <p:notesSz cx="6858000" cy="1857375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1F20"/>
    <a:srgbClr val="0072C3"/>
    <a:srgbClr val="007D79"/>
    <a:srgbClr val="D02670"/>
    <a:srgbClr val="33B1FF"/>
    <a:srgbClr val="262626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0B1EFA-6530-2E52-3372-CBF49AFA672E}" v="42" dt="2025-06-28T16:44:43.998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3" autoAdjust="0"/>
    <p:restoredTop sz="91480" autoAdjust="0"/>
  </p:normalViewPr>
  <p:slideViewPr>
    <p:cSldViewPr snapToGrid="0">
      <p:cViewPr>
        <p:scale>
          <a:sx n="75" d="100"/>
          <a:sy n="75" d="100"/>
        </p:scale>
        <p:origin x="696" y="642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gs" Target="tags/tag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 Numan Abdullah" userId="1e561cc654a897fe" providerId="Windows Live" clId="Web-{C70B1EFA-6530-2E52-3372-CBF49AFA672E}"/>
    <pc:docChg chg="modSld">
      <pc:chgData name="AL Numan Abdullah" userId="1e561cc654a897fe" providerId="Windows Live" clId="Web-{C70B1EFA-6530-2E52-3372-CBF49AFA672E}" dt="2025-06-28T16:44:43.998" v="40" actId="1076"/>
      <pc:docMkLst>
        <pc:docMk/>
      </pc:docMkLst>
      <pc:sldChg chg="modSp">
        <pc:chgData name="AL Numan Abdullah" userId="1e561cc654a897fe" providerId="Windows Live" clId="Web-{C70B1EFA-6530-2E52-3372-CBF49AFA672E}" dt="2025-06-28T16:44:43.998" v="40" actId="1076"/>
        <pc:sldMkLst>
          <pc:docMk/>
          <pc:sldMk cId="4009730992" sldId="256"/>
        </pc:sldMkLst>
        <pc:spChg chg="mod">
          <ac:chgData name="AL Numan Abdullah" userId="1e561cc654a897fe" providerId="Windows Live" clId="Web-{C70B1EFA-6530-2E52-3372-CBF49AFA672E}" dt="2025-06-28T16:44:43.998" v="40" actId="1076"/>
          <ac:spMkLst>
            <pc:docMk/>
            <pc:sldMk cId="4009730992" sldId="256"/>
            <ac:spMk id="2" creationId="{570D5631-0297-E86E-7069-C969B141FD7D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Relationship Id="rId1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9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2567" y="1375334"/>
            <a:ext cx="5843167" cy="2053666"/>
          </a:xfrm>
          <a:noFill/>
        </p:spPr>
        <p:txBody>
          <a:bodyPr>
            <a:normAutofit/>
          </a:bodyPr>
          <a:lstStyle/>
          <a:p>
            <a:pPr algn="r"/>
            <a:r>
              <a:rPr lang="en-US" dirty="0">
                <a:latin typeface="IBM Plex Sans SemiBold"/>
              </a:rPr>
              <a:t>Data Driven Report</a:t>
            </a:r>
            <a:br>
              <a:rPr lang="en-US" dirty="0">
                <a:latin typeface="IBM Plex Sans SemiBold"/>
              </a:rPr>
            </a:br>
            <a:br>
              <a:rPr lang="en-US" dirty="0">
                <a:latin typeface="IBM Plex Sans SemiBold"/>
              </a:rPr>
            </a:br>
            <a:r>
              <a:rPr lang="en-US" sz="1600" dirty="0">
                <a:latin typeface="IBM Plex Sans SemiBold"/>
              </a:rPr>
              <a:t>ABDULLAH al numan</a:t>
            </a:r>
            <a:br>
              <a:rPr lang="en-US" sz="1600" dirty="0">
                <a:latin typeface="IBM Plex Sans SemiBold"/>
              </a:rPr>
            </a:br>
            <a:r>
              <a:rPr lang="en-US" sz="1600" dirty="0">
                <a:latin typeface="IBM Plex Sans SemiBold"/>
              </a:rPr>
              <a:t>28/06/2025</a:t>
            </a:r>
            <a:endParaRPr lang="en-US" sz="1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0027" y="3731247"/>
            <a:ext cx="9135454" cy="1655762"/>
          </a:xfrm>
          <a:noFill/>
        </p:spPr>
        <p:txBody>
          <a:bodyPr/>
          <a:lstStyle/>
          <a:p>
            <a:r>
              <a:rPr lang="en-US" dirty="0"/>
              <a:t>Part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719" y="387350"/>
            <a:ext cx="4794861" cy="4351338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285075" y="1825624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600" dirty="0"/>
              <a:t>The growing space industry demands cost-effective launch solutions.</a:t>
            </a:r>
            <a:endParaRPr lang="fr-FR" sz="1600" dirty="0"/>
          </a:p>
          <a:p>
            <a:pPr lvl="0"/>
            <a:r>
              <a:rPr lang="en-US" sz="1600" dirty="0"/>
              <a:t>SpaceX significantly reduces launch costs by reusing Falcon 9 first stages.</a:t>
            </a:r>
            <a:endParaRPr lang="fr-FR" sz="1600" dirty="0"/>
          </a:p>
          <a:p>
            <a:pPr lvl="1"/>
            <a:r>
              <a:rPr lang="en-US" sz="1600" dirty="0"/>
              <a:t>Understanding first-stage landing success is vital for pricing strategies.</a:t>
            </a:r>
            <a:endParaRPr lang="fr-FR" sz="1600" dirty="0"/>
          </a:p>
          <a:p>
            <a:pPr lvl="1"/>
            <a:r>
              <a:rPr lang="en-US" sz="1600" dirty="0"/>
              <a:t>Data was collected via APIs and web scraping for Falcon 9 launch records.</a:t>
            </a:r>
            <a:endParaRPr lang="fr-FR" sz="1600" dirty="0"/>
          </a:p>
          <a:p>
            <a:pPr lvl="1"/>
            <a:r>
              <a:rPr lang="en-US" sz="1600" dirty="0"/>
              <a:t>Exploratory Data Analysis and interactive dashboards provided insights into launch patterns.</a:t>
            </a:r>
            <a:endParaRPr lang="fr-FR" sz="1600" dirty="0"/>
          </a:p>
          <a:p>
            <a:pPr lvl="0"/>
            <a:r>
              <a:rPr lang="en-US" sz="1600" dirty="0"/>
              <a:t>Machine learning models were developed to predict landing outcomes.</a:t>
            </a:r>
            <a:endParaRPr lang="fr-FR" sz="1600" dirty="0"/>
          </a:p>
          <a:p>
            <a:pPr lvl="0"/>
            <a:r>
              <a:rPr lang="en-US" sz="1600" dirty="0"/>
              <a:t>The final dashboard visualizes data, launch success probabilities, and site proximities.</a:t>
            </a:r>
            <a:endParaRPr lang="fr-FR" sz="1600" dirty="0"/>
          </a:p>
          <a:p>
            <a:pPr lvl="0"/>
            <a:r>
              <a:rPr lang="en-US" sz="1600" dirty="0"/>
              <a:t>These insights empower competitors to make data-driven decisions when bidding for launches.</a:t>
            </a:r>
            <a:endParaRPr lang="fr-FR" sz="1600" dirty="0"/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53707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231F20"/>
                </a:solidFill>
              </a:rPr>
              <a:t>The global space industry is witnessing rapid growth, with increasing competition among private space companies.</a:t>
            </a:r>
            <a:endParaRPr lang="fr-FR" sz="1600" dirty="0">
              <a:solidFill>
                <a:srgbClr val="231F20"/>
              </a:solidFill>
            </a:endParaRPr>
          </a:p>
          <a:p>
            <a:pPr lvl="0">
              <a:spcBef>
                <a:spcPts val="600"/>
              </a:spcBef>
              <a:spcAft>
                <a:spcPts val="600"/>
              </a:spcAft>
            </a:pPr>
            <a:br>
              <a:rPr lang="en-US" sz="1600" dirty="0">
                <a:solidFill>
                  <a:srgbClr val="231F20"/>
                </a:solidFill>
              </a:rPr>
            </a:br>
            <a:r>
              <a:rPr lang="en-US" sz="1600" dirty="0">
                <a:solidFill>
                  <a:srgbClr val="231F20"/>
                </a:solidFill>
              </a:rPr>
              <a:t>SpaceX has revolutionized space travel by significantly lowering launch costs through reusable rocket technology.</a:t>
            </a:r>
            <a:endParaRPr lang="fr-FR" sz="1600" dirty="0">
              <a:solidFill>
                <a:srgbClr val="231F20"/>
              </a:solidFill>
            </a:endParaRPr>
          </a:p>
          <a:p>
            <a:pPr lvl="0">
              <a:spcBef>
                <a:spcPts val="600"/>
              </a:spcBef>
              <a:spcAft>
                <a:spcPts val="600"/>
              </a:spcAft>
            </a:pPr>
            <a:br>
              <a:rPr lang="en-US" sz="1600" dirty="0">
                <a:solidFill>
                  <a:srgbClr val="231F20"/>
                </a:solidFill>
              </a:rPr>
            </a:br>
            <a:r>
              <a:rPr lang="en-US" sz="1600" dirty="0">
                <a:solidFill>
                  <a:srgbClr val="231F20"/>
                </a:solidFill>
              </a:rPr>
              <a:t>The Falcon 9 rocket's ability to land its first stage is a key factor contributing to reduced costs, with successful landings enabling reusability.</a:t>
            </a:r>
            <a:endParaRPr lang="fr-FR" sz="1600" dirty="0">
              <a:solidFill>
                <a:srgbClr val="231F20"/>
              </a:solidFill>
            </a:endParaRPr>
          </a:p>
          <a:p>
            <a:pPr lvl="0">
              <a:spcBef>
                <a:spcPts val="600"/>
              </a:spcBef>
              <a:spcAft>
                <a:spcPts val="600"/>
              </a:spcAft>
            </a:pPr>
            <a:br>
              <a:rPr lang="en-US" sz="1600" dirty="0">
                <a:solidFill>
                  <a:srgbClr val="231F20"/>
                </a:solidFill>
              </a:rPr>
            </a:br>
            <a:r>
              <a:rPr lang="en-US" sz="1600" dirty="0">
                <a:solidFill>
                  <a:srgbClr val="231F20"/>
                </a:solidFill>
              </a:rPr>
              <a:t> This project focuses on using data science to predict the likelihood of a Falcon 9 first-stage landing, which can aid competing companies in strategic bidding.</a:t>
            </a:r>
            <a:endParaRPr lang="fr-FR" sz="1600" dirty="0">
              <a:solidFill>
                <a:srgbClr val="231F20"/>
              </a:solidFill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br>
              <a:rPr lang="en-US" sz="1600" dirty="0">
                <a:solidFill>
                  <a:srgbClr val="231F20"/>
                </a:solidFill>
              </a:rPr>
            </a:br>
            <a:r>
              <a:rPr lang="en-US" sz="1600" dirty="0">
                <a:solidFill>
                  <a:srgbClr val="231F20"/>
                </a:solidFill>
              </a:rPr>
              <a:t>Accurate prediction models can help assess the cost-effectiveness of launches.</a:t>
            </a:r>
            <a:br>
              <a:rPr lang="en-US" sz="1600" dirty="0">
                <a:solidFill>
                  <a:srgbClr val="231F20"/>
                </a:solidFill>
              </a:rPr>
            </a:br>
            <a:endParaRPr lang="fr-FR" sz="1600" dirty="0">
              <a:solidFill>
                <a:srgbClr val="231F20"/>
              </a:solidFill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231F20"/>
                </a:solidFill>
              </a:rPr>
              <a:t>Understanding the factors influencing landing success provides a competitive advantage in the space market.</a:t>
            </a:r>
            <a:endParaRPr lang="fr-FR" sz="1600" dirty="0">
              <a:solidFill>
                <a:srgbClr val="231F20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1600" dirty="0">
              <a:solidFill>
                <a:srgbClr val="231F20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1600" dirty="0">
              <a:solidFill>
                <a:srgbClr val="231F2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Data Collection: Acquired historical launch data for Falcon 9 rockets using RESTful APIs and web scraping from relevant sources.</a:t>
            </a:r>
            <a:br>
              <a:rPr lang="en-US" dirty="0"/>
            </a:br>
            <a:endParaRPr lang="fr-FR" dirty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Data Preparation: Performed data wrangling to clean, format, and structure the dataset for analysis.</a:t>
            </a:r>
            <a:br>
              <a:rPr lang="en-US" dirty="0"/>
            </a:br>
            <a:endParaRPr lang="fr-FR" dirty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Exploratory Data Analysis (EDA): Conducted statistical analysis and visualized key trends to understand factors affecting first-stage landing success.</a:t>
            </a:r>
            <a:br>
              <a:rPr lang="en-US" dirty="0"/>
            </a:br>
            <a:endParaRPr lang="fr-FR" dirty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Model Development: Applied machine learning techniques to predict landing outcomes.</a:t>
            </a:r>
            <a:br>
              <a:rPr lang="en-US" dirty="0"/>
            </a:br>
            <a:endParaRPr lang="fr-FR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Tested multiple classification models including Logistic Regression, Decision Trees, and Support Vector Machines (</a:t>
            </a:r>
            <a:r>
              <a:rPr lang="en-US" dirty="0" err="1"/>
              <a:t>SVM</a:t>
            </a:r>
            <a:r>
              <a:rPr lang="en-US" dirty="0"/>
              <a:t>).</a:t>
            </a:r>
            <a:br>
              <a:rPr lang="en-US" dirty="0"/>
            </a:br>
            <a:endParaRPr lang="fr-FR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Optimized models using hyperparameter tuning to improve predictive accuracy.</a:t>
            </a:r>
            <a:endParaRPr lang="fr-FR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F900-F166-BEB7-F740-8C872536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10DC-B757-47AF-44F4-D6EC9F4BF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sz="3600" dirty="0"/>
              <a:t>Data Collection &amp; Wrangling Methodology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B4DF4CE-1A68-F430-6A2E-4D9F3463446E}"/>
              </a:ext>
            </a:extLst>
          </p:cNvPr>
          <p:cNvSpPr txBox="1"/>
          <p:nvPr/>
        </p:nvSpPr>
        <p:spPr>
          <a:xfrm>
            <a:off x="1003300" y="1866900"/>
            <a:ext cx="106045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Methodology</a:t>
            </a:r>
            <a:r>
              <a:rPr lang="fr-FR" b="1" dirty="0"/>
              <a:t>: Data Collection &amp; </a:t>
            </a:r>
            <a:r>
              <a:rPr lang="fr-FR" b="1" dirty="0" err="1"/>
              <a:t>Wrangling</a:t>
            </a:r>
            <a:endParaRPr lang="fr-F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Sources: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SpaceX API for launch data.</a:t>
            </a:r>
            <a:endParaRPr lang="fr-FR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Web scraping for supplementary details.</a:t>
            </a:r>
            <a:endParaRPr lang="fr-F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Techniques </a:t>
            </a:r>
            <a:r>
              <a:rPr lang="fr-FR" dirty="0" err="1"/>
              <a:t>Applied</a:t>
            </a:r>
            <a:r>
              <a:rPr lang="fr-FR" dirty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RESTful API interactions for structured datasets.</a:t>
            </a:r>
            <a:endParaRPr lang="fr-FR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Automated web scraping using Python tools (e.g., </a:t>
            </a:r>
            <a:r>
              <a:rPr lang="en-US" dirty="0" err="1"/>
              <a:t>BeautifulSoup</a:t>
            </a:r>
            <a:r>
              <a:rPr lang="en-US" dirty="0"/>
              <a:t>).</a:t>
            </a:r>
            <a:endParaRPr lang="fr-FR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Data </a:t>
            </a:r>
            <a:r>
              <a:rPr lang="fr-FR" dirty="0" err="1"/>
              <a:t>wrangling</a:t>
            </a:r>
            <a:r>
              <a:rPr lang="fr-FR" dirty="0"/>
              <a:t>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Handling missing values and inconsistencies.</a:t>
            </a:r>
            <a:endParaRPr lang="fr-FR" dirty="0"/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Feature engineering for better predictive modeling.</a:t>
            </a:r>
            <a:endParaRPr lang="fr-F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Result: Clean, structured dataset ready for analysis.</a:t>
            </a:r>
            <a:endParaRPr lang="fr-FR" dirty="0"/>
          </a:p>
          <a:p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590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EDA &amp; Interactive Visual Analytics Methodology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4761484" cy="50193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dirty="0" err="1"/>
              <a:t>Methodology</a:t>
            </a:r>
            <a:r>
              <a:rPr lang="fr-FR" dirty="0"/>
              <a:t>: </a:t>
            </a:r>
            <a:r>
              <a:rPr lang="fr-FR" dirty="0" err="1"/>
              <a:t>EDA</a:t>
            </a:r>
            <a:r>
              <a:rPr lang="fr-FR" dirty="0"/>
              <a:t> &amp; Visual Analytics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FAC5CF-1B58-ABB4-D63B-1D931D572459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9715501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</a:rPr>
              <a:t>Exploratory Data Analysis to understand key trends: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</a:rPr>
              <a:t>Distribution of successful vs. failed landings.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</a:rPr>
              <a:t>Launch site performance comparisons.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</a:rPr>
              <a:t>Tools Used: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</a:rPr>
              <a:t>Python, Pandas, Matplotlib, Seaborn for statistical exploration.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tx1"/>
                </a:solidFill>
              </a:rPr>
              <a:t>Plotly</a:t>
            </a:r>
            <a:r>
              <a:rPr lang="en-US" sz="1800" dirty="0">
                <a:solidFill>
                  <a:schemeClr val="tx1"/>
                </a:solidFill>
              </a:rPr>
              <a:t> Dash for building interactive visual dashboards.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</a:rPr>
              <a:t>Goal: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</a:rPr>
              <a:t>Make data insights accessible to stakeholders through visual tools.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B2131C49-55BB-C10A-6A85-221C20E1D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800" y="1439943"/>
            <a:ext cx="4853942" cy="45036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sz="2800" dirty="0" err="1"/>
              <a:t>Predictive</a:t>
            </a:r>
            <a:r>
              <a:rPr lang="fr-FR" sz="2800" dirty="0"/>
              <a:t> </a:t>
            </a:r>
            <a:r>
              <a:rPr lang="fr-FR" sz="2800" dirty="0" err="1"/>
              <a:t>Analysis</a:t>
            </a:r>
            <a:r>
              <a:rPr lang="fr-FR" sz="2800" dirty="0"/>
              <a:t> </a:t>
            </a:r>
            <a:r>
              <a:rPr lang="fr-FR" sz="2800" dirty="0" err="1"/>
              <a:t>Methodology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536184" cy="4117975"/>
          </a:xfrm>
        </p:spPr>
        <p:txBody>
          <a:bodyPr/>
          <a:lstStyle/>
          <a:p>
            <a:pPr marL="0" indent="0">
              <a:buNone/>
            </a:pPr>
            <a:r>
              <a:rPr lang="fr-FR" dirty="0" err="1"/>
              <a:t>Methodology</a:t>
            </a:r>
            <a:r>
              <a:rPr lang="fr-FR" dirty="0"/>
              <a:t>: </a:t>
            </a:r>
            <a:r>
              <a:rPr lang="fr-FR" dirty="0" err="1"/>
              <a:t>Predictive</a:t>
            </a:r>
            <a:r>
              <a:rPr lang="fr-FR" dirty="0"/>
              <a:t> </a:t>
            </a:r>
            <a:r>
              <a:rPr lang="fr-FR" dirty="0" err="1"/>
              <a:t>Analysis</a:t>
            </a:r>
            <a:endParaRPr lang="en-US" dirty="0"/>
          </a:p>
          <a:p>
            <a:r>
              <a:rPr lang="en-US" sz="1800" dirty="0"/>
              <a:t>Objective: Predict first-stage landing success using Machine Learning.</a:t>
            </a:r>
          </a:p>
          <a:p>
            <a:r>
              <a:rPr lang="en-US" sz="1800" dirty="0"/>
              <a:t>Algorithms Used:</a:t>
            </a:r>
          </a:p>
          <a:p>
            <a:pPr lvl="1"/>
            <a:r>
              <a:rPr lang="en-US" sz="1400" dirty="0"/>
              <a:t>Support Vector Machines (</a:t>
            </a:r>
            <a:r>
              <a:rPr lang="en-US" sz="1400" dirty="0" err="1"/>
              <a:t>SVM</a:t>
            </a:r>
            <a:r>
              <a:rPr lang="en-US" sz="1400" dirty="0"/>
              <a:t>).</a:t>
            </a:r>
          </a:p>
          <a:p>
            <a:pPr lvl="1"/>
            <a:r>
              <a:rPr lang="en-US" sz="1400" dirty="0"/>
              <a:t>Decision Trees.</a:t>
            </a:r>
          </a:p>
          <a:p>
            <a:pPr lvl="1"/>
            <a:r>
              <a:rPr lang="en-US" sz="1400" dirty="0"/>
              <a:t>Logistic Regression.</a:t>
            </a:r>
          </a:p>
          <a:p>
            <a:r>
              <a:rPr lang="en-US" sz="1800" dirty="0"/>
              <a:t>Process:</a:t>
            </a:r>
          </a:p>
          <a:p>
            <a:pPr lvl="1"/>
            <a:r>
              <a:rPr lang="en-US" sz="1400" dirty="0"/>
              <a:t>Data splitting: Training and Testing sets.</a:t>
            </a:r>
          </a:p>
          <a:p>
            <a:pPr lvl="1"/>
            <a:r>
              <a:rPr lang="en-US" sz="1400" dirty="0"/>
              <a:t>Hyperparameter tuning with </a:t>
            </a:r>
            <a:r>
              <a:rPr lang="en-US" sz="1400" dirty="0" err="1"/>
              <a:t>GridSearchCV</a:t>
            </a:r>
            <a:r>
              <a:rPr lang="en-US" sz="1400" dirty="0"/>
              <a:t>.</a:t>
            </a:r>
          </a:p>
          <a:p>
            <a:pPr lvl="1"/>
            <a:r>
              <a:rPr lang="en-US" sz="1400" dirty="0"/>
              <a:t>Model evaluation using accuracy, precision, and recall metrics.</a:t>
            </a:r>
          </a:p>
          <a:p>
            <a:r>
              <a:rPr lang="en-US" sz="1800" dirty="0"/>
              <a:t>Outcome: Optimal model for reliable predictions.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65125"/>
            <a:ext cx="11152414" cy="1325563"/>
          </a:xfrm>
        </p:spPr>
        <p:txBody>
          <a:bodyPr/>
          <a:lstStyle/>
          <a:p>
            <a:r>
              <a:rPr lang="en-US" dirty="0"/>
              <a:t>EDA with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680618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>
                <a:latin typeface="+mj-lt"/>
              </a:rPr>
              <a:t>EDA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Results</a:t>
            </a:r>
            <a:r>
              <a:rPr lang="fr-FR" dirty="0">
                <a:latin typeface="+mj-lt"/>
              </a:rPr>
              <a:t>: Visual Insights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Success rate trends by launch site.</a:t>
            </a:r>
            <a:endParaRPr lang="fr-FR" sz="2000" dirty="0">
              <a:latin typeface="+mj-lt"/>
            </a:endParaRP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Payload mass impact on landing outcomes.</a:t>
            </a:r>
            <a:endParaRPr lang="fr-FR" sz="2000" dirty="0">
              <a:latin typeface="+mj-lt"/>
            </a:endParaRP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Correlation between orbit type and landing success.</a:t>
            </a:r>
            <a:endParaRPr lang="fr-FR" sz="2000" dirty="0">
              <a:latin typeface="+mj-lt"/>
            </a:endParaRPr>
          </a:p>
          <a:p>
            <a:pPr lvl="0">
              <a:buFont typeface="Wingdings" panose="05000000000000000000" pitchFamily="2" charset="2"/>
              <a:buChar char="§"/>
            </a:pPr>
            <a:r>
              <a:rPr lang="fr-FR" sz="2000" dirty="0" err="1">
                <a:latin typeface="+mj-lt"/>
              </a:rPr>
              <a:t>Visualization</a:t>
            </a:r>
            <a:r>
              <a:rPr lang="fr-FR" sz="2000" dirty="0">
                <a:latin typeface="+mj-lt"/>
              </a:rPr>
              <a:t> </a:t>
            </a:r>
            <a:r>
              <a:rPr lang="fr-FR" sz="2000" dirty="0" err="1">
                <a:latin typeface="+mj-lt"/>
              </a:rPr>
              <a:t>Samples</a:t>
            </a:r>
            <a:r>
              <a:rPr lang="fr-FR" sz="2000" dirty="0">
                <a:latin typeface="+mj-lt"/>
              </a:rPr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>
                <a:latin typeface="+mj-lt"/>
              </a:rPr>
              <a:t>Success rate bar charts by site.</a:t>
            </a:r>
            <a:endParaRPr lang="fr-FR" sz="1600" dirty="0">
              <a:latin typeface="+mj-lt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>
                <a:latin typeface="+mj-lt"/>
              </a:rPr>
              <a:t>Scatter plots of payload mass vs. success probability.</a:t>
            </a:r>
            <a:endParaRPr lang="fr-FR" sz="1600" dirty="0">
              <a:latin typeface="+mj-lt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1600" dirty="0" err="1">
                <a:latin typeface="+mj-lt"/>
              </a:rPr>
              <a:t>Heatmaps</a:t>
            </a:r>
            <a:r>
              <a:rPr lang="fr-FR" sz="1600" dirty="0">
                <a:latin typeface="+mj-lt"/>
              </a:rPr>
              <a:t> </a:t>
            </a:r>
            <a:r>
              <a:rPr lang="fr-FR" sz="1600" dirty="0" err="1">
                <a:latin typeface="+mj-lt"/>
              </a:rPr>
              <a:t>revealing</a:t>
            </a:r>
            <a:r>
              <a:rPr lang="fr-FR" sz="1600" dirty="0">
                <a:latin typeface="+mj-lt"/>
              </a:rPr>
              <a:t> </a:t>
            </a:r>
            <a:r>
              <a:rPr lang="fr-FR" sz="1600" dirty="0" err="1">
                <a:latin typeface="+mj-lt"/>
              </a:rPr>
              <a:t>feature</a:t>
            </a:r>
            <a:r>
              <a:rPr lang="fr-FR" sz="1600" dirty="0">
                <a:latin typeface="+mj-lt"/>
              </a:rPr>
              <a:t> </a:t>
            </a:r>
            <a:r>
              <a:rPr lang="fr-FR" sz="1600" dirty="0" err="1">
                <a:latin typeface="+mj-lt"/>
              </a:rPr>
              <a:t>correlations</a:t>
            </a:r>
            <a:r>
              <a:rPr lang="fr-FR" sz="1600" dirty="0">
                <a:latin typeface="+mj-lt"/>
              </a:rPr>
              <a:t>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DE1B9CD-F779-3DFD-4935-A87C0E551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690688"/>
            <a:ext cx="3799946" cy="424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FF2634-FD0B-0A40-78E7-1427DC7EC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EDA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SQL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264DB0-717D-966E-9AF2-78ED528A3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476172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err="1">
                <a:latin typeface="+mn-lt"/>
              </a:rPr>
              <a:t>EDA</a:t>
            </a:r>
            <a:r>
              <a:rPr lang="fr-FR" sz="1800" b="1" dirty="0">
                <a:latin typeface="+mn-lt"/>
              </a:rPr>
              <a:t> </a:t>
            </a:r>
            <a:r>
              <a:rPr lang="fr-FR" sz="1800" b="1" dirty="0" err="1">
                <a:latin typeface="+mn-lt"/>
              </a:rPr>
              <a:t>Results</a:t>
            </a:r>
            <a:r>
              <a:rPr lang="fr-FR" sz="1800" b="1" dirty="0">
                <a:latin typeface="+mn-lt"/>
              </a:rPr>
              <a:t>: SQL-</a:t>
            </a:r>
            <a:r>
              <a:rPr lang="fr-FR" sz="1800" b="1" dirty="0" err="1">
                <a:latin typeface="+mn-lt"/>
              </a:rPr>
              <a:t>Based</a:t>
            </a:r>
            <a:r>
              <a:rPr lang="fr-FR" sz="1800" b="1" dirty="0">
                <a:latin typeface="+mn-lt"/>
              </a:rPr>
              <a:t> Insights</a:t>
            </a:r>
          </a:p>
          <a:p>
            <a:pPr lvl="0"/>
            <a:r>
              <a:rPr lang="en-US" sz="1800" dirty="0">
                <a:latin typeface="+mn-lt"/>
              </a:rPr>
              <a:t>SQL queries to extract and analyze key metrics:</a:t>
            </a:r>
            <a:endParaRPr lang="fr-FR" sz="1800" dirty="0">
              <a:latin typeface="+mn-lt"/>
            </a:endParaRPr>
          </a:p>
          <a:p>
            <a:pPr lvl="1"/>
            <a:r>
              <a:rPr lang="en-US" sz="1800" dirty="0">
                <a:latin typeface="+mn-lt"/>
              </a:rPr>
              <a:t>Total launches and successful landings per site.</a:t>
            </a:r>
            <a:endParaRPr lang="fr-FR" sz="1800" dirty="0">
              <a:latin typeface="+mn-lt"/>
            </a:endParaRPr>
          </a:p>
          <a:p>
            <a:pPr lvl="1"/>
            <a:r>
              <a:rPr lang="en-US" sz="1800" dirty="0">
                <a:latin typeface="+mn-lt"/>
              </a:rPr>
              <a:t>Success rates across different booster versions.</a:t>
            </a:r>
            <a:endParaRPr lang="fr-FR" sz="1800" dirty="0">
              <a:latin typeface="+mn-lt"/>
            </a:endParaRPr>
          </a:p>
          <a:p>
            <a:pPr lvl="0"/>
            <a:r>
              <a:rPr lang="fr-FR" sz="1800" dirty="0">
                <a:latin typeface="+mn-lt"/>
              </a:rPr>
              <a:t>Insights </a:t>
            </a:r>
            <a:r>
              <a:rPr lang="fr-FR" sz="1800" dirty="0" err="1">
                <a:latin typeface="+mn-lt"/>
              </a:rPr>
              <a:t>Obtained</a:t>
            </a:r>
            <a:r>
              <a:rPr lang="fr-FR" sz="1800" dirty="0">
                <a:latin typeface="+mn-lt"/>
              </a:rPr>
              <a:t>:</a:t>
            </a:r>
          </a:p>
          <a:p>
            <a:pPr lvl="1"/>
            <a:r>
              <a:rPr lang="en-US" sz="1800" dirty="0">
                <a:latin typeface="+mn-lt"/>
              </a:rPr>
              <a:t>Identified high-performing launch sites.</a:t>
            </a:r>
            <a:endParaRPr lang="fr-FR" sz="1800" dirty="0">
              <a:latin typeface="+mn-lt"/>
            </a:endParaRPr>
          </a:p>
          <a:p>
            <a:pPr lvl="1"/>
            <a:r>
              <a:rPr lang="en-US" sz="1800" dirty="0">
                <a:latin typeface="+mn-lt"/>
              </a:rPr>
              <a:t>Booster versions with higher landing success rates.</a:t>
            </a:r>
            <a:endParaRPr lang="fr-FR" sz="1800" dirty="0">
              <a:latin typeface="+mn-lt"/>
            </a:endParaRPr>
          </a:p>
          <a:p>
            <a:pPr lvl="0"/>
            <a:r>
              <a:rPr lang="en-US" sz="1800" dirty="0">
                <a:latin typeface="+mn-lt"/>
              </a:rPr>
              <a:t>SQL enhances data interrogation for precise insights.</a:t>
            </a:r>
            <a:endParaRPr lang="fr-FR" sz="1800" dirty="0">
              <a:latin typeface="+mn-lt"/>
            </a:endParaRPr>
          </a:p>
          <a:p>
            <a:pPr marL="0" indent="0">
              <a:buNone/>
            </a:pPr>
            <a:endParaRPr lang="fr-FR" sz="1800" dirty="0">
              <a:latin typeface="+mn-lt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F712B05-3450-4976-2CFF-631D090C0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372" y="1368107"/>
            <a:ext cx="5039428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47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1993B0-69E0-5ADC-09FB-A5ADABD0E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Map with Folium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E3D461-6031-66F2-953E-6F4278CE20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727700" cy="5334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sz="2400" b="1" dirty="0">
                <a:latin typeface="High Tower Text" panose="02040502050506030303" pitchFamily="18" charset="0"/>
              </a:rPr>
              <a:t>Interactive </a:t>
            </a:r>
            <a:r>
              <a:rPr lang="fr-FR" sz="2400" b="1" dirty="0" err="1">
                <a:latin typeface="High Tower Text" panose="02040502050506030303" pitchFamily="18" charset="0"/>
              </a:rPr>
              <a:t>Map</a:t>
            </a:r>
            <a:r>
              <a:rPr lang="fr-FR" sz="2400" b="1" dirty="0">
                <a:latin typeface="High Tower Text" panose="02040502050506030303" pitchFamily="18" charset="0"/>
              </a:rPr>
              <a:t> </a:t>
            </a:r>
            <a:r>
              <a:rPr lang="fr-FR" sz="2400" b="1" dirty="0" err="1">
                <a:latin typeface="High Tower Text" panose="02040502050506030303" pitchFamily="18" charset="0"/>
              </a:rPr>
              <a:t>Results</a:t>
            </a:r>
            <a:r>
              <a:rPr lang="fr-FR" sz="2400" b="1" dirty="0">
                <a:latin typeface="High Tower Text" panose="02040502050506030303" pitchFamily="18" charset="0"/>
              </a:rPr>
              <a:t>: Launch Site </a:t>
            </a:r>
            <a:r>
              <a:rPr lang="fr-FR" sz="2400" b="1" dirty="0" err="1">
                <a:latin typeface="High Tower Text" panose="02040502050506030303" pitchFamily="18" charset="0"/>
              </a:rPr>
              <a:t>Analysis</a:t>
            </a:r>
            <a:endParaRPr lang="fr-FR" sz="2400" b="1" dirty="0">
              <a:latin typeface="High Tower Text" panose="02040502050506030303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FFA4C57-302E-80F9-9874-7C7AA073BA06}"/>
              </a:ext>
            </a:extLst>
          </p:cNvPr>
          <p:cNvSpPr txBox="1"/>
          <p:nvPr/>
        </p:nvSpPr>
        <p:spPr>
          <a:xfrm>
            <a:off x="838200" y="2548315"/>
            <a:ext cx="51689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Created interactive maps using </a:t>
            </a:r>
            <a:r>
              <a:rPr lang="en-US" b="1" dirty="0"/>
              <a:t>Folium</a:t>
            </a:r>
            <a:r>
              <a:rPr lang="en-US" dirty="0"/>
              <a:t>.</a:t>
            </a:r>
            <a:endParaRPr lang="fr-F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Visualized geographical distribution of launch sites.</a:t>
            </a:r>
            <a:endParaRPr lang="fr-F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Analyzed proximity of successful landings to key locations.</a:t>
            </a:r>
            <a:endParaRPr lang="fr-F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Insights: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Certain sites show higher success rates.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Proximity to oceans and infrastructure plays a role.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5F25240-A690-9B20-7BC3-B63F63466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1416293"/>
            <a:ext cx="5453520" cy="485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122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C45B536F-AF8A-2C5E-5DE9-1F44A3AA7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200" y="1860550"/>
            <a:ext cx="5602894" cy="397407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4F719CE-A273-BC37-7BC1-5A725B8F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Plotly</a:t>
            </a:r>
            <a:r>
              <a:rPr lang="fr-FR" dirty="0"/>
              <a:t> Dash Dashboard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E895AF-3E91-C626-8439-D686A832FA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10363198" cy="520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Interactive Dashboard: Real-Time Visual Analytics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5F75F21-9330-5572-929F-AB7811844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679700"/>
            <a:ext cx="5257800" cy="3594100"/>
          </a:xfrm>
        </p:spPr>
        <p:txBody>
          <a:bodyPr>
            <a:noAutofit/>
          </a:bodyPr>
          <a:lstStyle/>
          <a:p>
            <a:pPr lvl="0"/>
            <a:r>
              <a:rPr lang="en-US" sz="1600" dirty="0"/>
              <a:t>Developed dashboard with </a:t>
            </a:r>
            <a:r>
              <a:rPr lang="en-US" sz="1600" b="1" dirty="0" err="1"/>
              <a:t>Plotly</a:t>
            </a:r>
            <a:r>
              <a:rPr lang="en-US" sz="1600" b="1" dirty="0"/>
              <a:t> Dash</a:t>
            </a:r>
            <a:r>
              <a:rPr lang="en-US" sz="1600" dirty="0"/>
              <a:t>.</a:t>
            </a:r>
            <a:endParaRPr lang="fr-FR" sz="1600" dirty="0"/>
          </a:p>
          <a:p>
            <a:pPr lvl="0"/>
            <a:r>
              <a:rPr lang="fr-FR" sz="1600" dirty="0" err="1"/>
              <a:t>Features</a:t>
            </a:r>
            <a:r>
              <a:rPr lang="fr-FR" sz="1600" dirty="0"/>
              <a:t>:</a:t>
            </a:r>
          </a:p>
          <a:p>
            <a:pPr lvl="1"/>
            <a:r>
              <a:rPr lang="en-US" sz="1600" dirty="0"/>
              <a:t>Launch site filter and payload mass range slider.</a:t>
            </a:r>
            <a:endParaRPr lang="fr-FR" sz="1600" dirty="0"/>
          </a:p>
          <a:p>
            <a:pPr lvl="1"/>
            <a:r>
              <a:rPr lang="en-US" sz="1600" dirty="0"/>
              <a:t>Real-time visual updates for success rates.</a:t>
            </a:r>
            <a:endParaRPr lang="fr-FR" sz="1600" dirty="0"/>
          </a:p>
          <a:p>
            <a:pPr lvl="0"/>
            <a:r>
              <a:rPr lang="fr-FR" sz="1600" dirty="0"/>
              <a:t>Stakeholder </a:t>
            </a:r>
            <a:r>
              <a:rPr lang="fr-FR" sz="1600" dirty="0" err="1"/>
              <a:t>Benefits</a:t>
            </a:r>
            <a:r>
              <a:rPr lang="fr-FR" sz="1600" dirty="0"/>
              <a:t>:</a:t>
            </a:r>
          </a:p>
          <a:p>
            <a:pPr lvl="1"/>
            <a:r>
              <a:rPr lang="fr-FR" sz="1600" dirty="0"/>
              <a:t>Intuitive, accessible insights.</a:t>
            </a:r>
          </a:p>
          <a:p>
            <a:pPr lvl="1"/>
            <a:r>
              <a:rPr lang="en-US" sz="1600" dirty="0"/>
              <a:t>Empowers decision-making with interactive tools.</a:t>
            </a:r>
            <a:endParaRPr lang="fr-FR" sz="1600" dirty="0"/>
          </a:p>
          <a:p>
            <a:pPr lvl="0"/>
            <a:r>
              <a:rPr lang="en-US" sz="1600" dirty="0"/>
              <a:t>Showcased innovation by integrating interactive analytics.</a:t>
            </a:r>
            <a:endParaRPr lang="fr-FR" sz="1600" dirty="0"/>
          </a:p>
          <a:p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157107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2604D0-EA65-002E-04C8-FECE446B1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Predictive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 (Classification)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D3C685-F62E-14E0-DE16-AB0E716CB0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12888"/>
            <a:ext cx="5181600" cy="5461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 err="1"/>
              <a:t>Predictive</a:t>
            </a:r>
            <a:r>
              <a:rPr lang="fr-FR" dirty="0"/>
              <a:t> Modeling </a:t>
            </a:r>
            <a:r>
              <a:rPr lang="fr-FR" dirty="0" err="1"/>
              <a:t>Results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EADFFF-3D6E-5D3D-01A6-D2AC52D45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46502" y="2197100"/>
            <a:ext cx="5105398" cy="4025900"/>
          </a:xfrm>
        </p:spPr>
        <p:txBody>
          <a:bodyPr>
            <a:normAutofit lnSpcReduction="10000"/>
          </a:bodyPr>
          <a:lstStyle/>
          <a:p>
            <a:pPr lvl="0"/>
            <a:r>
              <a:rPr lang="fr-FR" sz="1800" dirty="0"/>
              <a:t>Machine Learning </a:t>
            </a:r>
            <a:r>
              <a:rPr lang="fr-FR" sz="1800" dirty="0" err="1"/>
              <a:t>Models</a:t>
            </a:r>
            <a:r>
              <a:rPr lang="fr-FR" sz="1800" dirty="0"/>
              <a:t> </a:t>
            </a:r>
            <a:r>
              <a:rPr lang="fr-FR" sz="1800" dirty="0" err="1"/>
              <a:t>Evaluated</a:t>
            </a:r>
            <a:r>
              <a:rPr lang="fr-FR" sz="1800" dirty="0"/>
              <a:t>:</a:t>
            </a:r>
          </a:p>
          <a:p>
            <a:pPr lvl="1"/>
            <a:r>
              <a:rPr lang="en-US" sz="1800" dirty="0"/>
              <a:t>Logistic Regression: Good baseline performance.</a:t>
            </a:r>
            <a:endParaRPr lang="fr-FR" sz="1800" dirty="0"/>
          </a:p>
          <a:p>
            <a:pPr lvl="1"/>
            <a:r>
              <a:rPr lang="en-US" sz="1800" dirty="0"/>
              <a:t>Decision Trees: Interpretability with moderate accuracy.</a:t>
            </a:r>
            <a:endParaRPr lang="fr-FR" sz="1800" dirty="0"/>
          </a:p>
          <a:p>
            <a:pPr lvl="1"/>
            <a:r>
              <a:rPr lang="en-US" sz="1800" dirty="0" err="1"/>
              <a:t>SVM</a:t>
            </a:r>
            <a:r>
              <a:rPr lang="en-US" sz="1800" dirty="0"/>
              <a:t>: Achieved best predictive performance after tuning.</a:t>
            </a:r>
            <a:endParaRPr lang="fr-FR" sz="1800" dirty="0"/>
          </a:p>
          <a:p>
            <a:pPr lvl="0"/>
            <a:r>
              <a:rPr lang="fr-FR" sz="1800" dirty="0"/>
              <a:t>Model Insights:</a:t>
            </a:r>
          </a:p>
          <a:p>
            <a:pPr lvl="1"/>
            <a:r>
              <a:rPr lang="en-US" sz="1800" dirty="0"/>
              <a:t>Payload mass, launch site, and orbit type significantly impact landing outcomes.</a:t>
            </a:r>
            <a:endParaRPr lang="fr-FR" sz="1800" dirty="0"/>
          </a:p>
          <a:p>
            <a:pPr lvl="1"/>
            <a:r>
              <a:rPr lang="en-US" sz="1800" dirty="0"/>
              <a:t>Final model provides reliable landing success probability estimates.</a:t>
            </a:r>
            <a:endParaRPr lang="fr-FR" sz="1800" dirty="0"/>
          </a:p>
          <a:p>
            <a:pPr lvl="0"/>
            <a:r>
              <a:rPr lang="en-US" sz="1800" dirty="0"/>
              <a:t>Supports data-driven bidding strategy development.</a:t>
            </a:r>
            <a:endParaRPr lang="fr-FR" sz="1800" dirty="0"/>
          </a:p>
          <a:p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252150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F1BE6BD-65E1-EBF0-A7F7-BBD70F60A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06" y="1981200"/>
            <a:ext cx="11680494" cy="35926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2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6AB812B-9F46-47B9-BBB5-7F2C3A08B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900" y="1547907"/>
            <a:ext cx="7949318" cy="49973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3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CC3F238-6524-AA7E-2A0B-36D326646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446" y="1513655"/>
            <a:ext cx="8027107" cy="49792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0E8A42C-A274-8C71-7A8D-00CE11CA71F4}"/>
              </a:ext>
            </a:extLst>
          </p:cNvPr>
          <p:cNvSpPr txBox="1"/>
          <p:nvPr/>
        </p:nvSpPr>
        <p:spPr>
          <a:xfrm>
            <a:off x="4424373" y="2113896"/>
            <a:ext cx="6054725" cy="3610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science enables actionable insights for the competitive space industry.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Predictive models help assess Falcon 9 landing success.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Interactive dashboards and maps provide user-friendly analytics.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Competitors can leverage findings for more strategic, informed bids.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Demonstrates the real-world value of data science in high-stakes industries.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fr-FR" dirty="0"/>
              <a:t>Creative &amp; Innovative </a:t>
            </a:r>
            <a:r>
              <a:rPr lang="fr-FR" dirty="0" err="1"/>
              <a:t>Elements</a:t>
            </a:r>
            <a:r>
              <a:rPr lang="fr-FR" dirty="0"/>
              <a:t> </a:t>
            </a:r>
            <a:r>
              <a:rPr lang="fr-FR" dirty="0" err="1"/>
              <a:t>Applied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4544292" y="1825625"/>
            <a:ext cx="659185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✅ Integrated real-time interactive visual tools (</a:t>
            </a:r>
            <a:r>
              <a:rPr lang="en-US" sz="2000" dirty="0" err="1"/>
              <a:t>Plotly</a:t>
            </a:r>
            <a:r>
              <a:rPr lang="en-US" sz="2000" dirty="0"/>
              <a:t> Dash, Folium).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✅ Combined statistical EDA with SQL-based precision analysis.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✅ Highlighted actionable insights tied to industry economics.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fr-FR" sz="2000" dirty="0"/>
              <a:t>✅ Visual storytelling </a:t>
            </a:r>
            <a:r>
              <a:rPr lang="fr-FR" sz="2000" dirty="0" err="1"/>
              <a:t>emphasizes</a:t>
            </a:r>
            <a:r>
              <a:rPr lang="fr-FR" sz="2000" dirty="0"/>
              <a:t> </a:t>
            </a:r>
            <a:r>
              <a:rPr lang="fr-FR" sz="2000" dirty="0" err="1"/>
              <a:t>practical</a:t>
            </a:r>
            <a:r>
              <a:rPr lang="fr-FR" sz="2000" dirty="0"/>
              <a:t> business implications </a:t>
            </a:r>
            <a:r>
              <a:rPr lang="fr-FR" sz="2000" dirty="0" err="1"/>
              <a:t>beyond</a:t>
            </a:r>
            <a:r>
              <a:rPr lang="fr-FR" sz="2000" dirty="0"/>
              <a:t> </a:t>
            </a:r>
            <a:r>
              <a:rPr lang="fr-FR" sz="2000" dirty="0" err="1"/>
              <a:t>technical</a:t>
            </a:r>
            <a:r>
              <a:rPr lang="fr-FR" sz="2000" dirty="0"/>
              <a:t> </a:t>
            </a:r>
            <a:r>
              <a:rPr lang="fr-FR" sz="2000" dirty="0" err="1"/>
              <a:t>results</a:t>
            </a:r>
            <a:r>
              <a:rPr lang="fr-FR" sz="2000" dirty="0"/>
              <a:t>.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11069552" cy="1325563"/>
          </a:xfrm>
        </p:spPr>
        <p:txBody>
          <a:bodyPr anchor="ctr">
            <a:normAutofit/>
          </a:bodyPr>
          <a:lstStyle/>
          <a:p>
            <a:r>
              <a:rPr lang="fr-FR" dirty="0"/>
              <a:t>Innovative Insights – Data-Driven </a:t>
            </a:r>
            <a:r>
              <a:rPr lang="fr-FR" dirty="0" err="1"/>
              <a:t>Advantage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914400" y="1879601"/>
            <a:ext cx="10489276" cy="4267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✔ </a:t>
            </a:r>
            <a:r>
              <a:rPr lang="en-US" b="1" dirty="0"/>
              <a:t>Geographic Impact</a:t>
            </a:r>
            <a:br>
              <a:rPr lang="en-US" dirty="0"/>
            </a:br>
            <a:r>
              <a:rPr lang="en-US" i="1" dirty="0"/>
              <a:t>Landing success rates are significantly higher for launches at specific sites, indicating location-dependent operational advantages.</a:t>
            </a:r>
            <a:endParaRPr lang="fr-FR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✔ </a:t>
            </a:r>
            <a:r>
              <a:rPr lang="en-US" b="1" dirty="0"/>
              <a:t>Payload Mass Threshold Identified</a:t>
            </a:r>
            <a:br>
              <a:rPr lang="en-US" dirty="0"/>
            </a:br>
            <a:r>
              <a:rPr lang="en-US" i="1" dirty="0"/>
              <a:t>Payloads exceeding </a:t>
            </a:r>
            <a:r>
              <a:rPr lang="en-US" b="1" i="1" dirty="0"/>
              <a:t>X kg</a:t>
            </a:r>
            <a:r>
              <a:rPr lang="en-US" i="1" dirty="0"/>
              <a:t> show reduced likelihood of first-stage landings, critical for mission planning and risk assessment.</a:t>
            </a:r>
            <a:endParaRPr lang="fr-FR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✔ </a:t>
            </a:r>
            <a:r>
              <a:rPr lang="en-US" b="1" dirty="0" err="1"/>
              <a:t>SVM</a:t>
            </a:r>
            <a:r>
              <a:rPr lang="en-US" b="1" dirty="0"/>
              <a:t> Model Outperforms Alternatives</a:t>
            </a:r>
            <a:br>
              <a:rPr lang="en-US" dirty="0"/>
            </a:br>
            <a:r>
              <a:rPr lang="en-US" i="1" dirty="0"/>
              <a:t>Support Vector Machine (</a:t>
            </a:r>
            <a:r>
              <a:rPr lang="en-US" i="1" dirty="0" err="1"/>
              <a:t>SVM</a:t>
            </a:r>
            <a:r>
              <a:rPr lang="en-US" i="1" dirty="0"/>
              <a:t>) achieved the highest predictive accuracy at </a:t>
            </a:r>
            <a:r>
              <a:rPr lang="en-US" b="1" i="1" dirty="0"/>
              <a:t>92%</a:t>
            </a:r>
            <a:r>
              <a:rPr lang="en-US" i="1" dirty="0"/>
              <a:t>, capturing complex decision boundaries better than simpler models.</a:t>
            </a:r>
            <a:endParaRPr lang="fr-FR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✔ </a:t>
            </a:r>
            <a:r>
              <a:rPr lang="en-US" b="1" dirty="0"/>
              <a:t>Interactive Analytics for Real-Time Exploration</a:t>
            </a:r>
            <a:br>
              <a:rPr lang="en-US" dirty="0"/>
            </a:br>
            <a:r>
              <a:rPr lang="en-US" i="1" dirty="0" err="1"/>
              <a:t>Plotly</a:t>
            </a:r>
            <a:r>
              <a:rPr lang="en-US" i="1" dirty="0"/>
              <a:t> Dash dashboard enables stakeholders to simulate different scenarios instantly—empowering data-driven bidding strategies.</a:t>
            </a:r>
            <a:endParaRPr lang="fr-FR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✔ </a:t>
            </a:r>
            <a:r>
              <a:rPr lang="en-US" b="1" dirty="0"/>
              <a:t>Strategic Business Insight</a:t>
            </a:r>
            <a:br>
              <a:rPr lang="en-US" dirty="0"/>
            </a:br>
            <a:r>
              <a:rPr lang="en-US" i="1" dirty="0"/>
              <a:t>Competitors can now quantify landing success probability before bidding, minimizing financial risk and enhancing competitive positioning.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Props1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120</TotalTime>
  <Words>1072</Words>
  <Application>Microsoft Office PowerPoint</Application>
  <PresentationFormat>Grand écran</PresentationFormat>
  <Paragraphs>143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9" baseType="lpstr">
      <vt:lpstr>Arial</vt:lpstr>
      <vt:lpstr>Calibri</vt:lpstr>
      <vt:lpstr>Courier New</vt:lpstr>
      <vt:lpstr>Helv</vt:lpstr>
      <vt:lpstr>High Tower Text</vt:lpstr>
      <vt:lpstr>IBM Plex Mono</vt:lpstr>
      <vt:lpstr>IBM Plex Sans</vt:lpstr>
      <vt:lpstr>IBM Plex Sans SemiBold</vt:lpstr>
      <vt:lpstr>Wingdings</vt:lpstr>
      <vt:lpstr>SLIDE_TEMPLATE_skill_network</vt:lpstr>
      <vt:lpstr>Data Driven Report  ABDULLAH al numan 28/06/2025</vt:lpstr>
      <vt:lpstr>Présentation PowerPoint</vt:lpstr>
      <vt:lpstr>EXECUTIVE SUMMARY</vt:lpstr>
      <vt:lpstr>INTRODUCTION</vt:lpstr>
      <vt:lpstr>METHODOLOGY</vt:lpstr>
      <vt:lpstr>Data Collection &amp; Wrangling Methodology</vt:lpstr>
      <vt:lpstr>EDA &amp; Interactive Visual Analytics Methodology</vt:lpstr>
      <vt:lpstr>Predictive Analysis Methodology</vt:lpstr>
      <vt:lpstr>EDA with Visualizations</vt:lpstr>
      <vt:lpstr>EDA with SQL</vt:lpstr>
      <vt:lpstr>Interactive Map with Folium</vt:lpstr>
      <vt:lpstr>Plotly Dash Dashboard</vt:lpstr>
      <vt:lpstr>Predictive Analysis (Classification) </vt:lpstr>
      <vt:lpstr>DASHBOARD</vt:lpstr>
      <vt:lpstr>DASHBOARD TAB 2</vt:lpstr>
      <vt:lpstr>DASHBOARD TAB 3</vt:lpstr>
      <vt:lpstr>CONCLUSION</vt:lpstr>
      <vt:lpstr>Creative &amp; Innovative Elements Applied</vt:lpstr>
      <vt:lpstr>Innovative Insights – Data-Driven Advantage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AL Numan Abdullah</cp:lastModifiedBy>
  <cp:revision>55</cp:revision>
  <dcterms:created xsi:type="dcterms:W3CDTF">2024-10-30T05:40:03Z</dcterms:created>
  <dcterms:modified xsi:type="dcterms:W3CDTF">2025-06-28T19:09:43Z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